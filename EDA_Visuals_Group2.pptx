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0" r:id="rId3"/>
    <p:sldId id="290" r:id="rId4"/>
    <p:sldId id="259" r:id="rId5"/>
    <p:sldId id="282" r:id="rId6"/>
    <p:sldId id="291" r:id="rId7"/>
    <p:sldId id="267" r:id="rId8"/>
    <p:sldId id="261" r:id="rId9"/>
    <p:sldId id="263" r:id="rId10"/>
    <p:sldId id="265" r:id="rId11"/>
    <p:sldId id="292" r:id="rId12"/>
    <p:sldId id="283" r:id="rId13"/>
    <p:sldId id="273" r:id="rId14"/>
    <p:sldId id="293" r:id="rId15"/>
    <p:sldId id="286" r:id="rId16"/>
    <p:sldId id="287" r:id="rId17"/>
    <p:sldId id="288" r:id="rId18"/>
    <p:sldId id="284" r:id="rId19"/>
    <p:sldId id="294" r:id="rId20"/>
    <p:sldId id="269" r:id="rId21"/>
    <p:sldId id="270" r:id="rId22"/>
    <p:sldId id="295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/>
    <p:restoredTop sz="76220"/>
  </p:normalViewPr>
  <p:slideViewPr>
    <p:cSldViewPr snapToGrid="0" snapToObjects="1">
      <p:cViewPr varScale="1">
        <p:scale>
          <a:sx n="85" d="100"/>
          <a:sy n="85" d="100"/>
        </p:scale>
        <p:origin x="17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22755-FADE-D445-AD29-E9CBD153F8F7}" type="datetimeFigureOut">
              <a:rPr lang="en-001" smtClean="0"/>
              <a:t>17/10/2025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890E9-DF90-5A4B-BC45-A84829DAA93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7150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11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20635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F098-3621-BEB5-9DD8-E3AAB61B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5D619-1D63-DB5E-5922-825756BB1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FA5EA-DC21-7F29-EC80-C892D4DF1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B3F43-26D4-1467-C718-BA934568A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14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93449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1) Test Absolute Error — Histogram</a:t>
                </a:r>
              </a:p>
              <a:p>
                <a:r>
                  <a:rPr lang="en-US" b="1" dirty="0"/>
                  <a:t>What it shows:</a:t>
                </a:r>
                <a:r>
                  <a:rPr lang="en-US" dirty="0"/>
                  <a:t> the </a:t>
                </a:r>
                <a:r>
                  <a:rPr lang="en-US" i="1" dirty="0"/>
                  <a:t>distribution</a:t>
                </a:r>
                <a:r>
                  <a:rPr lang="en-US" dirty="0"/>
                  <a:t> of per-sample absolute errors 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acc>
                      <m:accPr>
                        <m:chr m:val="̂"/>
                        <m:ctrlPr>
                          <a:rPr lang="ar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ar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lang="ar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ar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lang="ar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</m:oMath>
                </a14:m>
                <a:r>
                  <a:rPr lang="en-US" dirty="0"/>
                  <a:t>on the test set.</a:t>
                </a:r>
              </a:p>
              <a:p>
                <a:r>
                  <a:rPr lang="en-US" b="1" dirty="0"/>
                  <a:t>Takeaway:</a:t>
                </a:r>
                <a:r>
                  <a:rPr lang="en-US" dirty="0"/>
                  <a:t> strong </a:t>
                </a:r>
                <a:r>
                  <a:rPr lang="en-US" b="1" dirty="0"/>
                  <a:t>right-skew</a:t>
                </a:r>
                <a:r>
                  <a:rPr lang="en-US" dirty="0"/>
                  <a:t> — most predictions have </a:t>
                </a:r>
                <a:r>
                  <a:rPr lang="en-US" b="1" dirty="0"/>
                  <a:t>small to moderate</a:t>
                </a:r>
                <a:r>
                  <a:rPr lang="en-US" dirty="0"/>
                  <a:t> error, with a </a:t>
                </a:r>
                <a:r>
                  <a:rPr lang="en-US" b="1" dirty="0"/>
                  <a:t>long tail</a:t>
                </a:r>
                <a:r>
                  <a:rPr lang="en-US" dirty="0"/>
                  <a:t> of larger misses. The long tail is why MAE is noticeably above the median error.</a:t>
                </a:r>
              </a:p>
              <a:p>
                <a:endParaRPr lang="en-US" dirty="0"/>
              </a:p>
              <a:p>
                <a:r>
                  <a:rPr lang="en-US" b="1" dirty="0"/>
                  <a:t>Histogram:</a:t>
                </a:r>
                <a:r>
                  <a:rPr lang="en-US" dirty="0"/>
                  <a:t> “Errors are right-skewed: most predictions are close; a long tail of larger misses drives MAE.”</a:t>
                </a:r>
              </a:p>
              <a:p>
                <a:endParaRPr lang="en-00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1) Test Absolute Error — Histogram</a:t>
                </a:r>
              </a:p>
              <a:p>
                <a:r>
                  <a:rPr lang="en-US" b="1" dirty="0"/>
                  <a:t>What it shows:</a:t>
                </a:r>
                <a:r>
                  <a:rPr lang="en-US" dirty="0"/>
                  <a:t> the </a:t>
                </a:r>
                <a:r>
                  <a:rPr lang="en-US" i="1" dirty="0"/>
                  <a:t>distribution</a:t>
                </a:r>
                <a:r>
                  <a:rPr lang="en-US" dirty="0"/>
                  <a:t> of per-sample absolute errors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</a:t>
                </a:r>
                <a:r>
                  <a:rPr lang="a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 ̂−𝑦∣</a:t>
                </a:r>
                <a:r>
                  <a:rPr lang="en-US" dirty="0"/>
                  <a:t>on the test set.</a:t>
                </a:r>
              </a:p>
              <a:p>
                <a:r>
                  <a:rPr lang="en-US" b="1" dirty="0"/>
                  <a:t>Takeaway:</a:t>
                </a:r>
                <a:r>
                  <a:rPr lang="en-US" dirty="0"/>
                  <a:t> strong </a:t>
                </a:r>
                <a:r>
                  <a:rPr lang="en-US" b="1" dirty="0"/>
                  <a:t>right-skew</a:t>
                </a:r>
                <a:r>
                  <a:rPr lang="en-US" dirty="0"/>
                  <a:t> — most predictions have </a:t>
                </a:r>
                <a:r>
                  <a:rPr lang="en-US" b="1" dirty="0"/>
                  <a:t>small to moderate</a:t>
                </a:r>
                <a:r>
                  <a:rPr lang="en-US" dirty="0"/>
                  <a:t> error, with a </a:t>
                </a:r>
                <a:r>
                  <a:rPr lang="en-US" b="1" dirty="0"/>
                  <a:t>long tail</a:t>
                </a:r>
                <a:r>
                  <a:rPr lang="en-US" dirty="0"/>
                  <a:t> of larger misses. The long tail is why MAE is noticeably above the median error.</a:t>
                </a:r>
              </a:p>
              <a:p>
                <a:endParaRPr lang="en-US" dirty="0"/>
              </a:p>
              <a:p>
                <a:r>
                  <a:rPr lang="en-US" b="1" dirty="0"/>
                  <a:t>Histogram:</a:t>
                </a:r>
                <a:r>
                  <a:rPr lang="en-US" dirty="0"/>
                  <a:t> “Errors are right-skewed: most predictions are close; a long tail of larger misses drives MAE.”</a:t>
                </a:r>
              </a:p>
              <a:p>
                <a:endParaRPr lang="en-00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15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4554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2) Test Absolute Error — ECDF</a:t>
                </a:r>
              </a:p>
              <a:p>
                <a:r>
                  <a:rPr lang="en-US" b="1" dirty="0"/>
                  <a:t>What it shows:</a:t>
                </a:r>
                <a:r>
                  <a:rPr lang="en-US" dirty="0"/>
                  <a:t> for any error threshold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/>
                  <a:t>, the curve gives the </a:t>
                </a:r>
                <a:r>
                  <a:rPr lang="en-US" b="1" dirty="0"/>
                  <a:t>fraction of test cases with error ≤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Takeaway:</a:t>
                </a:r>
                <a:r>
                  <a:rPr lang="en-US" dirty="0"/>
                  <a:t> coverage view. You can read values like “</a:t>
                </a:r>
                <a:r>
                  <a:rPr lang="en-US" b="1" dirty="0"/>
                  <a:t>X% of predictions are within K J/m²</a:t>
                </a:r>
                <a:r>
                  <a:rPr lang="en-US" dirty="0"/>
                  <a:t>.”</a:t>
                </a:r>
              </a:p>
              <a:p>
                <a:pPr lvl="1"/>
                <a:r>
                  <a:rPr lang="en-US" dirty="0"/>
                  <a:t>Use this to report service levels (e.g., P50/P90).</a:t>
                </a:r>
              </a:p>
              <a:p>
                <a:pPr lvl="1"/>
                <a:r>
                  <a:rPr lang="en-US" dirty="0"/>
                  <a:t>Example phrasing: “</a:t>
                </a:r>
                <a:r>
                  <a:rPr lang="en-US" b="1" dirty="0"/>
                  <a:t>Median abs. error (P50) is </a:t>
                </a:r>
                <a:r>
                  <a:rPr lang="en-US" b="1" i="1" dirty="0"/>
                  <a:t>…</a:t>
                </a:r>
                <a:r>
                  <a:rPr lang="en-US" b="1" dirty="0"/>
                  <a:t>; 90% of errors are below </a:t>
                </a:r>
                <a:r>
                  <a:rPr lang="en-US" b="1" i="1" dirty="0"/>
                  <a:t>…</a:t>
                </a:r>
                <a:r>
                  <a:rPr lang="en-US" b="1" dirty="0"/>
                  <a:t> J/m²</a:t>
                </a:r>
                <a:r>
                  <a:rPr lang="en-US" dirty="0"/>
                  <a:t>.”</a:t>
                </a:r>
                <a:br>
                  <a:rPr lang="en-US" dirty="0"/>
                </a:br>
                <a:r>
                  <a:rPr lang="en-US" i="1" dirty="0"/>
                  <a:t>(Compute with </a:t>
                </a:r>
                <a:r>
                  <a:rPr lang="en-US" sz="1200" i="1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np.percentile</a:t>
                </a:r>
                <a:r>
                  <a:rPr lang="en-US" sz="1200" i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1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abs_err</a:t>
                </a:r>
                <a:r>
                  <a:rPr lang="en-US" sz="1200" i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 [50,90,95])</a:t>
                </a:r>
                <a:r>
                  <a:rPr lang="en-US" i="1" dirty="0"/>
                  <a:t> and drop the numbers into the slide.)</a:t>
                </a:r>
                <a:endParaRPr lang="en-US" dirty="0"/>
              </a:p>
              <a:p>
                <a:endParaRPr lang="en-001" dirty="0"/>
              </a:p>
              <a:p>
                <a:r>
                  <a:rPr lang="en-US" b="1" dirty="0"/>
                  <a:t>ECDF:</a:t>
                </a:r>
                <a:r>
                  <a:rPr lang="en-US" dirty="0"/>
                  <a:t> “Coverage: </a:t>
                </a:r>
                <a:r>
                  <a:rPr lang="en-US" b="1" dirty="0"/>
                  <a:t>P50 = </a:t>
                </a:r>
                <a:r>
                  <a:rPr lang="en-US" b="1" i="1" dirty="0"/>
                  <a:t>…</a:t>
                </a:r>
                <a:r>
                  <a:rPr lang="en-US" dirty="0"/>
                  <a:t>, </a:t>
                </a:r>
                <a:r>
                  <a:rPr lang="en-US" b="1" dirty="0"/>
                  <a:t>P90 = </a:t>
                </a:r>
                <a:r>
                  <a:rPr lang="en-US" b="1" i="1" dirty="0"/>
                  <a:t>…</a:t>
                </a:r>
                <a:r>
                  <a:rPr lang="en-US" b="1" dirty="0"/>
                  <a:t> J/m²</a:t>
                </a:r>
                <a:r>
                  <a:rPr lang="en-US" dirty="0"/>
                  <a:t> → 90% of predictions fall within this error.”</a:t>
                </a:r>
                <a:endParaRPr lang="en-00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2) Test Absolute Error — ECDF</a:t>
                </a:r>
              </a:p>
              <a:p>
                <a:r>
                  <a:rPr lang="en-US" b="1" dirty="0"/>
                  <a:t>What it shows:</a:t>
                </a:r>
                <a:r>
                  <a:rPr lang="en-US" dirty="0"/>
                  <a:t> for any error threshold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, the curve gives the </a:t>
                </a:r>
                <a:r>
                  <a:rPr lang="en-US" b="1" dirty="0"/>
                  <a:t>fraction of test cases with error ≤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Takeaway:</a:t>
                </a:r>
                <a:r>
                  <a:rPr lang="en-US" dirty="0"/>
                  <a:t> coverage view. You can read values like “</a:t>
                </a:r>
                <a:r>
                  <a:rPr lang="en-US" b="1" dirty="0"/>
                  <a:t>X% of predictions are within K J/m²</a:t>
                </a:r>
                <a:r>
                  <a:rPr lang="en-US" dirty="0"/>
                  <a:t>.”</a:t>
                </a:r>
              </a:p>
              <a:p>
                <a:pPr lvl="1"/>
                <a:r>
                  <a:rPr lang="en-US" dirty="0"/>
                  <a:t>Use this to report service levels (e.g., P50/P90).</a:t>
                </a:r>
              </a:p>
              <a:p>
                <a:pPr lvl="1"/>
                <a:r>
                  <a:rPr lang="en-US" dirty="0"/>
                  <a:t>Example phrasing: “</a:t>
                </a:r>
                <a:r>
                  <a:rPr lang="en-US" b="1" dirty="0"/>
                  <a:t>Median abs. error (P50) is </a:t>
                </a:r>
                <a:r>
                  <a:rPr lang="en-US" b="1" i="1" dirty="0"/>
                  <a:t>…</a:t>
                </a:r>
                <a:r>
                  <a:rPr lang="en-US" b="1" dirty="0"/>
                  <a:t>; 90% of errors are below </a:t>
                </a:r>
                <a:r>
                  <a:rPr lang="en-US" b="1" i="1" dirty="0"/>
                  <a:t>…</a:t>
                </a:r>
                <a:r>
                  <a:rPr lang="en-US" b="1" dirty="0"/>
                  <a:t> J/m²</a:t>
                </a:r>
                <a:r>
                  <a:rPr lang="en-US" dirty="0"/>
                  <a:t>.”</a:t>
                </a:r>
                <a:br>
                  <a:rPr lang="en-US" dirty="0"/>
                </a:br>
                <a:r>
                  <a:rPr lang="en-US" i="1" dirty="0"/>
                  <a:t>(Compute with </a:t>
                </a:r>
                <a:r>
                  <a:rPr lang="en-US" sz="1200" i="1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np.percentile</a:t>
                </a:r>
                <a:r>
                  <a:rPr lang="en-US" sz="1200" i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1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abs_err</a:t>
                </a:r>
                <a:r>
                  <a:rPr lang="en-US" sz="1200" i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 [50,90,95])</a:t>
                </a:r>
                <a:r>
                  <a:rPr lang="en-US" i="1" dirty="0"/>
                  <a:t> and drop the numbers into the slide.)</a:t>
                </a:r>
                <a:endParaRPr lang="en-US" dirty="0"/>
              </a:p>
              <a:p>
                <a:endParaRPr lang="en-001" dirty="0"/>
              </a:p>
              <a:p>
                <a:r>
                  <a:rPr lang="en-US" b="1" dirty="0"/>
                  <a:t>ECDF:</a:t>
                </a:r>
                <a:r>
                  <a:rPr lang="en-US" dirty="0"/>
                  <a:t> “Coverage: </a:t>
                </a:r>
                <a:r>
                  <a:rPr lang="en-US" b="1" dirty="0"/>
                  <a:t>P50 = </a:t>
                </a:r>
                <a:r>
                  <a:rPr lang="en-US" b="1" i="1" dirty="0"/>
                  <a:t>…</a:t>
                </a:r>
                <a:r>
                  <a:rPr lang="en-US" dirty="0"/>
                  <a:t>, </a:t>
                </a:r>
                <a:r>
                  <a:rPr lang="en-US" b="1" dirty="0"/>
                  <a:t>P90 = </a:t>
                </a:r>
                <a:r>
                  <a:rPr lang="en-US" b="1" i="1" dirty="0"/>
                  <a:t>…</a:t>
                </a:r>
                <a:r>
                  <a:rPr lang="en-US" b="1" dirty="0"/>
                  <a:t> J/m²</a:t>
                </a:r>
                <a:r>
                  <a:rPr lang="en-US" dirty="0"/>
                  <a:t> → 90% of predictions fall within this error.”</a:t>
                </a:r>
                <a:endParaRPr lang="en-00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16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8984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3) Test Absolute Error — Boxplot</a:t>
            </a:r>
          </a:p>
          <a:p>
            <a:r>
              <a:rPr lang="en-US" b="1" dirty="0"/>
              <a:t>What it shows:</a:t>
            </a:r>
            <a:r>
              <a:rPr lang="en-US" dirty="0"/>
              <a:t> </a:t>
            </a:r>
            <a:r>
              <a:rPr lang="en-US" b="1" dirty="0"/>
              <a:t>median</a:t>
            </a:r>
            <a:r>
              <a:rPr lang="en-US" dirty="0"/>
              <a:t> (line), </a:t>
            </a:r>
            <a:r>
              <a:rPr lang="en-US" b="1" dirty="0"/>
              <a:t>IQR</a:t>
            </a:r>
            <a:r>
              <a:rPr lang="en-US" dirty="0"/>
              <a:t> (box), whiskers, and </a:t>
            </a:r>
            <a:r>
              <a:rPr lang="en-US" b="1" dirty="0"/>
              <a:t>outliers</a:t>
            </a:r>
            <a:r>
              <a:rPr lang="en-US" dirty="0"/>
              <a:t> (dots). The green triangle is the </a:t>
            </a:r>
            <a:r>
              <a:rPr lang="en-US" b="1" dirty="0"/>
              <a:t>mean</a:t>
            </a:r>
            <a:r>
              <a:rPr lang="en-US" dirty="0"/>
              <a:t>.</a:t>
            </a:r>
          </a:p>
          <a:p>
            <a:r>
              <a:rPr lang="en-US" b="1" dirty="0"/>
              <a:t>Takeaway:</a:t>
            </a:r>
            <a:r>
              <a:rPr lang="en-US" dirty="0"/>
              <a:t> median &lt; mean ⇒ </a:t>
            </a:r>
            <a:r>
              <a:rPr lang="en-US" b="1" dirty="0"/>
              <a:t>outliers are inflating the mean (MAE)</a:t>
            </a:r>
            <a:r>
              <a:rPr lang="en-US" dirty="0"/>
              <a:t>. Most errors are concentrated in a lower range, with a cluster of large mistakes.</a:t>
            </a:r>
          </a:p>
          <a:p>
            <a:endParaRPr lang="en-00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Test boxplot:</a:t>
            </a:r>
            <a:r>
              <a:rPr lang="en-US" dirty="0"/>
              <a:t> “Median error below mean → outliers inflate MAE; IQR shows typical variability.”</a:t>
            </a:r>
          </a:p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17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1745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C613-8E7B-0600-0528-4D8CB0A8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1898B-0813-A231-4354-04EA7DAAE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D6AD2-7E87-1105-BBD2-4932C2C4F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4F37-DE09-0FE6-6229-476E604A3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19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56830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↑ increases prediction; negative ↓ decreases. Magnitudes are conditional on other features.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20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16698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Importance = total loss reduction from splits using each feature. Unsigned; higher = more useful to the trees.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21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56503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5936-9094-46AD-6ED7-895C0FDF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D228C-23B5-6090-18DD-2F9010DF7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FF4EB-C8C4-83A0-EBF7-AFD20A56B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B1212-9113-AFA2-0839-3AFC96528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90E9-DF90-5A4B-BC45-A84829DAA93C}" type="slidenum">
              <a:rPr lang="en-001" smtClean="0"/>
              <a:t>22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0052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EDA — ACME Solar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1750" y="3600450"/>
            <a:ext cx="6400800" cy="696558"/>
          </a:xfrm>
        </p:spPr>
        <p:txBody>
          <a:bodyPr/>
          <a:lstStyle/>
          <a:p>
            <a:r>
              <a:rPr lang="pt-PT" dirty="0" err="1"/>
              <a:t>Group</a:t>
            </a:r>
            <a:r>
              <a:rPr lang="pt-PT" dirty="0"/>
              <a:t>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Dataset Snapshot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94921"/>
              </p:ext>
            </p:extLst>
          </p:nvPr>
        </p:nvGraphicFramePr>
        <p:xfrm>
          <a:off x="548640" y="1554480"/>
          <a:ext cx="8046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Rows ×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6,990 × 656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ACME (J/m²)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Feature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Mesonet station columns + Exogenous PCA features (V*, PC*)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Date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Date (daily)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Train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Up to 2007‑12‑31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Test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2008‑01‑01 to 2012‑11‑30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Example Station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ADAX, ALTU, APAC, ARNE, BEAV, BESS, BIXB, BLAC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Example Exogenous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V2073_y, V1785_y, V8137_y, V377_y, V254_y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FFCFEF-59E5-7E43-1142-4046BF8136B3}"/>
              </a:ext>
            </a:extLst>
          </p:cNvPr>
          <p:cNvSpPr/>
          <p:nvPr/>
        </p:nvSpPr>
        <p:spPr>
          <a:xfrm>
            <a:off x="928047" y="2433566"/>
            <a:ext cx="7287905" cy="1990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1) Data &amp; Missingness</a:t>
            </a:r>
            <a:endParaRPr lang="en-001" sz="5000" dirty="0"/>
          </a:p>
          <a:p>
            <a:pPr algn="ctr"/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91670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5477" y="211712"/>
            <a:ext cx="45720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sz="3500" dirty="0" err="1"/>
              <a:t>Where</a:t>
            </a:r>
            <a:r>
              <a:rPr lang="pt-PT" sz="3500" dirty="0"/>
              <a:t> Data Is </a:t>
            </a:r>
            <a:r>
              <a:rPr lang="pt-PT" sz="3500" dirty="0" err="1"/>
              <a:t>Missing</a:t>
            </a:r>
            <a:r>
              <a:rPr lang="pt-PT" sz="3500" dirty="0"/>
              <a:t>?</a:t>
            </a:r>
            <a:endParaRPr sz="3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06" y="1244101"/>
            <a:ext cx="7928386" cy="5274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1C3CEA-BC8B-0BF6-AD3F-D6B73844B1CA}"/>
              </a:ext>
            </a:extLst>
          </p:cNvPr>
          <p:cNvSpPr txBox="1"/>
          <p:nvPr/>
        </p:nvSpPr>
        <p:spPr>
          <a:xfrm>
            <a:off x="1777700" y="796487"/>
            <a:ext cx="5588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bar ≈26% NA — uniform gaps across top-20 variables</a:t>
            </a:r>
            <a:endParaRPr lang="en-00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6609"/>
            <a:ext cx="8229600" cy="1143000"/>
          </a:xfrm>
        </p:spPr>
        <p:txBody>
          <a:bodyPr>
            <a:normAutofit/>
          </a:bodyPr>
          <a:lstStyle/>
          <a:p>
            <a:r>
              <a:rPr sz="4000" dirty="0"/>
              <a:t>Missingness: 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84396"/>
              </p:ext>
            </p:extLst>
          </p:nvPr>
        </p:nvGraphicFramePr>
        <p:xfrm>
          <a:off x="914400" y="2455433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Any‑NA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298 / 656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Stations — median NA%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26% (all 98 cols &gt;10% &amp; &gt;25% NA)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Exogenous — median / mean NA%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0%  /  1.39%  (no col &gt;10% NA)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Train vs Test — mean NA%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1.17%  vs  16.13%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A43E-A34D-A6D8-C894-1E0BE21B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20BE47-48CF-CB50-B519-A5CEE3AE4012}"/>
              </a:ext>
            </a:extLst>
          </p:cNvPr>
          <p:cNvSpPr/>
          <p:nvPr/>
        </p:nvSpPr>
        <p:spPr>
          <a:xfrm>
            <a:off x="928047" y="2433566"/>
            <a:ext cx="7287905" cy="1990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2) ACME Behavior (Pre-2008)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245676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049896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Strongest Co-Movers with ACME (Train Set)</a:t>
            </a:r>
            <a:endParaRPr sz="3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4353"/>
            <a:ext cx="8686800" cy="5763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9743"/>
            <a:ext cx="9021622" cy="5024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038D91-CFD1-5203-2A2E-4682F1BEEA59}"/>
              </a:ext>
            </a:extLst>
          </p:cNvPr>
          <p:cNvSpPr txBox="1"/>
          <p:nvPr/>
        </p:nvSpPr>
        <p:spPr>
          <a:xfrm>
            <a:off x="127557" y="437494"/>
            <a:ext cx="9016443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Distribution: What ACME Looks Like Before 2008</a:t>
            </a:r>
            <a:endParaRPr sz="3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035" y="465268"/>
            <a:ext cx="905196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Time Series: What ACME Looks Like Before 2008 </a:t>
            </a:r>
            <a:endParaRPr sz="3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950"/>
            <a:ext cx="9123034" cy="5081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1458" y="373829"/>
            <a:ext cx="6061083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Seasonal Pattern of ACME (DOY)</a:t>
            </a:r>
            <a:endParaRPr sz="3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1377"/>
            <a:ext cx="8807824" cy="54828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CB05-86EE-5500-41D0-48E1F471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FB2BC3-E28F-10ED-9E6A-A0EEF3F466F4}"/>
              </a:ext>
            </a:extLst>
          </p:cNvPr>
          <p:cNvSpPr/>
          <p:nvPr/>
        </p:nvSpPr>
        <p:spPr>
          <a:xfrm>
            <a:off x="928047" y="2433566"/>
            <a:ext cx="7287905" cy="1990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3) Linear Model (Ridge/Lasso)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98993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524" y="179326"/>
            <a:ext cx="8442952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Linear Model: Cross-Validation MAE Across </a:t>
            </a:r>
            <a:r>
              <a:rPr lang="el-GR" sz="3500" dirty="0"/>
              <a:t>α</a:t>
            </a:r>
            <a:endParaRPr sz="3500" b="1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9945"/>
            <a:ext cx="9144000" cy="56715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A598C-A9ED-5246-EFF0-C8AB7BFC35E6}"/>
              </a:ext>
            </a:extLst>
          </p:cNvPr>
          <p:cNvSpPr txBox="1"/>
          <p:nvPr/>
        </p:nvSpPr>
        <p:spPr>
          <a:xfrm>
            <a:off x="350524" y="751287"/>
            <a:ext cx="18636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: Lasso</a:t>
            </a:r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77815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Linear Model: Cross-Validation MAPE vs </a:t>
            </a:r>
            <a:r>
              <a:rPr lang="el-GR" sz="3500" dirty="0"/>
              <a:t>α</a:t>
            </a:r>
            <a:endParaRPr sz="3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" y="1235130"/>
            <a:ext cx="9065444" cy="5622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588B75-DF6E-DC97-DF19-28497828821F}"/>
              </a:ext>
            </a:extLst>
          </p:cNvPr>
          <p:cNvSpPr txBox="1"/>
          <p:nvPr/>
        </p:nvSpPr>
        <p:spPr>
          <a:xfrm>
            <a:off x="457200" y="865798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: Lasso</a:t>
            </a:r>
            <a:endParaRPr lang="pt-PT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41CEE-1006-8C2E-99EC-C391B0DD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E13FB9-FED2-4ADB-0347-B6600763C428}"/>
              </a:ext>
            </a:extLst>
          </p:cNvPr>
          <p:cNvSpPr/>
          <p:nvPr/>
        </p:nvSpPr>
        <p:spPr>
          <a:xfrm>
            <a:off x="928047" y="2433566"/>
            <a:ext cx="7287905" cy="1990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3) Non-Linear Model (Gradient Boosting)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323004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789B27-3A88-D4AA-AA09-55D4FB48A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2695"/>
            <a:ext cx="9036392" cy="51145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5EA46-50AE-ECD2-9549-3552223F143F}"/>
              </a:ext>
            </a:extLst>
          </p:cNvPr>
          <p:cNvSpPr txBox="1"/>
          <p:nvPr/>
        </p:nvSpPr>
        <p:spPr>
          <a:xfrm>
            <a:off x="382139" y="6277252"/>
            <a:ext cx="8761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Errors are right-skewed: most predictions are close; a long tail of larger misses drives MAE.</a:t>
            </a:r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2F938-72F2-186A-0422-6BEADFE3A359}"/>
              </a:ext>
            </a:extLst>
          </p:cNvPr>
          <p:cNvSpPr txBox="1"/>
          <p:nvPr/>
        </p:nvSpPr>
        <p:spPr>
          <a:xfrm>
            <a:off x="1310939" y="244206"/>
            <a:ext cx="6414513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Non-linear Model: </a:t>
            </a:r>
            <a:r>
              <a:rPr lang="en-001" sz="3500" dirty="0"/>
              <a:t>MAE </a:t>
            </a:r>
            <a:r>
              <a:rPr lang="en-US" sz="3500" dirty="0"/>
              <a:t>histogram</a:t>
            </a:r>
            <a:endParaRPr sz="3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944A6-2D64-0017-BB9B-4076382ED759}"/>
              </a:ext>
            </a:extLst>
          </p:cNvPr>
          <p:cNvSpPr txBox="1"/>
          <p:nvPr/>
        </p:nvSpPr>
        <p:spPr>
          <a:xfrm>
            <a:off x="1310939" y="793363"/>
            <a:ext cx="39086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: </a:t>
            </a:r>
            <a:r>
              <a:rPr lang="en-US" dirty="0" err="1"/>
              <a:t>GradientBoostingRegressor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64008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1EC92-979E-2AC2-94CD-33EEA8E42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12" y="1210747"/>
            <a:ext cx="8888575" cy="50308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FDC54A-B535-03F3-FD2B-20BFB075824C}"/>
              </a:ext>
            </a:extLst>
          </p:cNvPr>
          <p:cNvSpPr txBox="1"/>
          <p:nvPr/>
        </p:nvSpPr>
        <p:spPr>
          <a:xfrm>
            <a:off x="790861" y="210473"/>
            <a:ext cx="7379777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Non-linear Model: </a:t>
            </a:r>
            <a:r>
              <a:rPr lang="pt-PT" sz="3500" dirty="0"/>
              <a:t>MAE </a:t>
            </a:r>
            <a:r>
              <a:rPr lang="en-US" sz="3500" dirty="0"/>
              <a:t>coverage Curve</a:t>
            </a:r>
            <a:endParaRPr sz="35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DFE621-A32F-1C9A-D984-9758EEDDCD1A}"/>
                  </a:ext>
                </a:extLst>
              </p:cNvPr>
              <p:cNvSpPr txBox="1"/>
              <p:nvPr/>
            </p:nvSpPr>
            <p:spPr>
              <a:xfrm>
                <a:off x="2286000" y="6241641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90% of predictions have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acc>
                      <m:accPr>
                        <m:chr m:val="̂"/>
                        <m:ctrlPr>
                          <a:rPr lang="a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ar" dirty="0"/>
                  <a:t>≤ </a:t>
                </a:r>
                <a:r>
                  <a:rPr lang="en-US" dirty="0"/>
                  <a:t>P90 J/m²</a:t>
                </a:r>
                <a:endParaRPr lang="en-00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DFE621-A32F-1C9A-D984-9758EEDDC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6241641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l="-1111" t="-6667" b="-26667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29F4423-F3A5-DAC8-85CE-909D140A6CF3}"/>
              </a:ext>
            </a:extLst>
          </p:cNvPr>
          <p:cNvSpPr txBox="1"/>
          <p:nvPr/>
        </p:nvSpPr>
        <p:spPr>
          <a:xfrm>
            <a:off x="790861" y="841415"/>
            <a:ext cx="39086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: </a:t>
            </a:r>
            <a:r>
              <a:rPr lang="en-US" dirty="0" err="1"/>
              <a:t>GradientBoostingRegressor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4789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974D47-BF7F-16C6-CCEA-4DC1CFC13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22" y="1122610"/>
            <a:ext cx="6973437" cy="5548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68223F-6AD7-177D-8B66-8D480BE6CBCD}"/>
              </a:ext>
            </a:extLst>
          </p:cNvPr>
          <p:cNvSpPr txBox="1"/>
          <p:nvPr/>
        </p:nvSpPr>
        <p:spPr>
          <a:xfrm>
            <a:off x="1051227" y="123149"/>
            <a:ext cx="598035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Non-linear Model: MAE Boxplot</a:t>
            </a:r>
            <a:endParaRPr sz="3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42C74-3CBD-B7C5-99C2-84874F3DD8D3}"/>
              </a:ext>
            </a:extLst>
          </p:cNvPr>
          <p:cNvSpPr txBox="1"/>
          <p:nvPr/>
        </p:nvSpPr>
        <p:spPr>
          <a:xfrm>
            <a:off x="245659" y="6396297"/>
            <a:ext cx="8652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Median error &lt; mean error → long-tail misses inflate the average; typical error is lower than the MAE</a:t>
            </a:r>
            <a:endParaRPr lang="en-001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4DDC4-5500-0BF6-35D1-FCD05AE7091A}"/>
              </a:ext>
            </a:extLst>
          </p:cNvPr>
          <p:cNvSpPr txBox="1"/>
          <p:nvPr/>
        </p:nvSpPr>
        <p:spPr>
          <a:xfrm>
            <a:off x="1051227" y="689086"/>
            <a:ext cx="39086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: </a:t>
            </a:r>
            <a:r>
              <a:rPr lang="en-US" dirty="0" err="1"/>
              <a:t>GradientBoostingRegressor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23507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324" y="344245"/>
            <a:ext cx="8570231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500" dirty="0"/>
              <a:t>Non-linear Model: Validation MAPE histogram</a:t>
            </a:r>
            <a:endParaRPr sz="3500" b="1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9" y="1311636"/>
            <a:ext cx="9024761" cy="52140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65EC6C-3E56-0295-B43C-62D2CD9A2FA2}"/>
              </a:ext>
            </a:extLst>
          </p:cNvPr>
          <p:cNvSpPr txBox="1"/>
          <p:nvPr/>
        </p:nvSpPr>
        <p:spPr>
          <a:xfrm>
            <a:off x="378324" y="866613"/>
            <a:ext cx="39086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: </a:t>
            </a:r>
            <a:r>
              <a:rPr lang="en-US" dirty="0" err="1"/>
              <a:t>GradientBoostingRegressor</a:t>
            </a:r>
            <a:endParaRPr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8453D-D69A-6EDC-3DD0-ACB71FDE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ADA1AF-3BD6-9938-42CC-179B3A38D53A}"/>
              </a:ext>
            </a:extLst>
          </p:cNvPr>
          <p:cNvSpPr/>
          <p:nvPr/>
        </p:nvSpPr>
        <p:spPr>
          <a:xfrm>
            <a:off x="928047" y="2433566"/>
            <a:ext cx="7287905" cy="1990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4) Feature Importance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991718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5187" y="139850"/>
            <a:ext cx="6373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Linear model coefficients feature importance (from Ridge/Lasso)</a:t>
            </a:r>
            <a:endParaRPr sz="32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0767"/>
            <a:ext cx="9106713" cy="54272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6071" y="113215"/>
            <a:ext cx="598009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dirty="0"/>
              <a:t>Tree model feature importance </a:t>
            </a:r>
          </a:p>
          <a:p>
            <a:pPr algn="ctr"/>
            <a:r>
              <a:rPr lang="en-US" sz="3200" dirty="0"/>
              <a:t>(from </a:t>
            </a:r>
            <a:r>
              <a:rPr lang="en-US" sz="3200" dirty="0" err="1"/>
              <a:t>GradientBoostingRegressor</a:t>
            </a:r>
            <a:r>
              <a:rPr lang="en-US" sz="3200" dirty="0"/>
              <a:t>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84" y="1303015"/>
            <a:ext cx="7438031" cy="55549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33F5-A22D-EC2A-43F5-7C59C71A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DAD3DF-3A31-3FC7-C327-73D31A58ADDC}"/>
              </a:ext>
            </a:extLst>
          </p:cNvPr>
          <p:cNvSpPr/>
          <p:nvPr/>
        </p:nvSpPr>
        <p:spPr>
          <a:xfrm>
            <a:off x="607325" y="2433566"/>
            <a:ext cx="7929350" cy="1990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5) Forecasts &amp; Seasonality Check (2008–2013)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777593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610496"/>
            <a:ext cx="806285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dirty="0"/>
              <a:t>Do We Capture Seasonality? Predicted ACME 2008–2013</a:t>
            </a:r>
            <a:endParaRPr sz="3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19104"/>
            <a:ext cx="9068251" cy="32382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735</Words>
  <Application>Microsoft Macintosh PowerPoint</Application>
  <PresentationFormat>On-screen Show (4:3)</PresentationFormat>
  <Paragraphs>89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Office Theme</vt:lpstr>
      <vt:lpstr>EDA — ACME Solar Prediction</vt:lpstr>
      <vt:lpstr>Dataset Snapshot</vt:lpstr>
      <vt:lpstr>PowerPoint Presentation</vt:lpstr>
      <vt:lpstr>PowerPoint Presentation</vt:lpstr>
      <vt:lpstr>Missingness: Key 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Laura Lopes Vale Estrada de Barros</cp:lastModifiedBy>
  <cp:revision>14</cp:revision>
  <dcterms:created xsi:type="dcterms:W3CDTF">2013-01-27T09:14:16Z</dcterms:created>
  <dcterms:modified xsi:type="dcterms:W3CDTF">2025-10-17T08:43:54Z</dcterms:modified>
  <cp:category/>
</cp:coreProperties>
</file>